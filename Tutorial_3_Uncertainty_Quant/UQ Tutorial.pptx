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0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167EE1-B900-4046-8A95-F89F88EBC732}">
          <p14:sldIdLst>
            <p14:sldId id="260"/>
            <p14:sldId id="257"/>
            <p14:sldId id="261"/>
            <p14:sldId id="262"/>
            <p14:sldId id="263"/>
            <p14:sldId id="264"/>
            <p14:sldId id="265"/>
            <p14:sldId id="266"/>
            <p14:sldId id="267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765"/>
    <a:srgbClr val="FDEBF3"/>
    <a:srgbClr val="F26A43"/>
    <a:srgbClr val="00B3B5"/>
    <a:srgbClr val="155C7D"/>
    <a:srgbClr val="079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18313-1993-A732-E97C-E7B4F066F48B}" v="7" dt="2025-10-30T13:20:49.988"/>
    <p1510:client id="{8437EAD0-388C-3EA4-643A-17D46633CD4E}" v="417" dt="2025-10-30T02:27:58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  <p:guide pos="746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1FE25-AD4A-7440-85B1-83F41E7D31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B6E2F-A4CB-2C45-9911-D356C6583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2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1248C7-4882-FF19-D4D9-E3E2377730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74" r="3574"/>
          <a:stretch/>
        </p:blipFill>
        <p:spPr>
          <a:xfrm>
            <a:off x="-147276" y="-84221"/>
            <a:ext cx="12481141" cy="7026442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222F96-9BC9-3412-19F6-628F0B2C0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F3EB8-0347-2B20-4B40-26ED7474A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75075-14D0-0663-84C5-42848A84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FF8B7-41BD-EEFE-B580-7DCA041F8B18}"/>
              </a:ext>
            </a:extLst>
          </p:cNvPr>
          <p:cNvSpPr txBox="1"/>
          <p:nvPr userDrawn="1"/>
        </p:nvSpPr>
        <p:spPr>
          <a:xfrm>
            <a:off x="331425" y="6308725"/>
            <a:ext cx="1082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014BE-7325-159E-99B4-50BB0605D4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81" y="68720"/>
            <a:ext cx="2925248" cy="1056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8779C8-79CB-A290-C6CE-DDD97D89292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t="10909" r="-2650" b="18182"/>
          <a:stretch>
            <a:fillRect/>
          </a:stretch>
        </p:blipFill>
        <p:spPr>
          <a:xfrm>
            <a:off x="-2422" y="5836475"/>
            <a:ext cx="2915554" cy="847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8D9921-A4EB-E875-4104-1B4655D39A8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63" r="166" b="31329"/>
          <a:stretch>
            <a:fillRect/>
          </a:stretch>
        </p:blipFill>
        <p:spPr>
          <a:xfrm>
            <a:off x="7333487" y="5361438"/>
            <a:ext cx="4853909" cy="133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5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5008-DA9D-D8FF-47A8-6460BF1D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C3F26-2813-0124-DA91-D038C52D3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D416-BDF3-2198-E2F8-460C334E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B4005-9551-64C5-7A50-5F2AC7FF9703}"/>
              </a:ext>
            </a:extLst>
          </p:cNvPr>
          <p:cNvSpPr txBox="1"/>
          <p:nvPr userDrawn="1"/>
        </p:nvSpPr>
        <p:spPr>
          <a:xfrm>
            <a:off x="331425" y="6308725"/>
            <a:ext cx="1082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2E46D-EDF2-AB8F-5E71-BAF033CB694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963" y="6308725"/>
            <a:ext cx="10825162" cy="379413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950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EEFB-8AB9-356D-4305-3C2DA099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4CD9A-A2F2-AC30-F308-66E14F73D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2A99-898D-A13D-7563-D3126F0D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50C1-E5BA-CAA0-AAEA-5618D0F7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8166-54BC-C42B-0E98-1C7F2BCDE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8A93C-C1E9-6BB2-5CF0-244B32663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46A09-31A7-655D-28FA-EBECD194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D717AF-6819-2DD5-000E-DB2A7F7711B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963" y="6308725"/>
            <a:ext cx="10825162" cy="379413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696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D555-52B0-3FB5-A1AC-F511F68A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924A-401D-F346-F528-4FDA756A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E1651-A6D9-B98E-B658-37EEDCAC0918}"/>
              </a:ext>
            </a:extLst>
          </p:cNvPr>
          <p:cNvSpPr txBox="1"/>
          <p:nvPr userDrawn="1"/>
        </p:nvSpPr>
        <p:spPr>
          <a:xfrm>
            <a:off x="331425" y="6308725"/>
            <a:ext cx="10828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FDFA331-7D2E-9BBD-DF76-CFEB32D8660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963" y="6308725"/>
            <a:ext cx="10825162" cy="379413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704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D99AB-6296-D348-732A-569A65E7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7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370AB-AF7A-E925-DB27-9E15971B0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logo with a leaf and text&#10;&#10;AI-generated content may be incorrect.">
            <a:extLst>
              <a:ext uri="{FF2B5EF4-FFF2-40B4-BE49-F238E27FC236}">
                <a16:creationId xmlns:a16="http://schemas.microsoft.com/office/drawing/2014/main" id="{F242A179-D2FE-1749-1E71-2EE8C29C22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043" y="632460"/>
            <a:ext cx="7815914" cy="553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7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5B822-E15C-0295-4F9F-4B4B6310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65126"/>
            <a:ext cx="11522075" cy="903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AE60C-3EFB-DE58-82F8-DEFCC9061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4313"/>
            <a:ext cx="11522075" cy="4692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9824-E13E-D54C-3D43-5BEC5C299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86" y="6323299"/>
            <a:ext cx="7004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97D49577-77E6-7B48-B2C9-0A88E9927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8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Lato" panose="020F050202020403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703.04977" TargetMode="External"/><Relationship Id="rId3" Type="http://schemas.openxmlformats.org/officeDocument/2006/relationships/hyperlink" Target="https://arxiv.org/pdf/2107.03342" TargetMode="External"/><Relationship Id="rId7" Type="http://schemas.openxmlformats.org/officeDocument/2006/relationships/hyperlink" Target="https://arxiv.org/pdf/1506.02142" TargetMode="External"/><Relationship Id="rId2" Type="http://schemas.openxmlformats.org/officeDocument/2006/relationships/hyperlink" Target="https://www.ibm.com/think/topics/uncertainty-quantific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offpleiss.com/blog/nn_calibration.html" TargetMode="External"/><Relationship Id="rId5" Type="http://schemas.openxmlformats.org/officeDocument/2006/relationships/hyperlink" Target="https://arxiv.org/pdf/1910.09457" TargetMode="External"/><Relationship Id="rId10" Type="http://schemas.openxmlformats.org/officeDocument/2006/relationships/hyperlink" Target="https://arxiv.org/pdf/1905.03222" TargetMode="External"/><Relationship Id="rId4" Type="http://schemas.openxmlformats.org/officeDocument/2006/relationships/hyperlink" Target="https://openreview.net/group?id=ICLR.cc/2025/Workshop/QUESTION" TargetMode="External"/><Relationship Id="rId9" Type="http://schemas.openxmlformats.org/officeDocument/2006/relationships/hyperlink" Target="https://www.stat.berkeley.edu/~ryantibs/statlearn-s23/lectures/conformal.pdf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ellxgene.cziscience.com/datasets" TargetMode="External"/><Relationship Id="rId3" Type="http://schemas.openxmlformats.org/officeDocument/2006/relationships/hyperlink" Target="https://huggingface.co/datasets/lamm-mit/protein_secondary_structure_from_PDB" TargetMode="External"/><Relationship Id="rId7" Type="http://schemas.openxmlformats.org/officeDocument/2006/relationships/hyperlink" Target="https://huggingface.co/datasets/ronig/protein_binding_sequences" TargetMode="External"/><Relationship Id="rId2" Type="http://schemas.openxmlformats.org/officeDocument/2006/relationships/hyperlink" Target="https://huggingface.co/datasets/damlab/unipr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ICML2022/ProteinGym" TargetMode="External"/><Relationship Id="rId5" Type="http://schemas.openxmlformats.org/officeDocument/2006/relationships/hyperlink" Target="https://huggingface.co/datasets/graphs-datasets/PROTEINS" TargetMode="External"/><Relationship Id="rId4" Type="http://schemas.openxmlformats.org/officeDocument/2006/relationships/hyperlink" Target="https://huggingface.co/datasets/Protein-FN/Protein-FN" TargetMode="External"/><Relationship Id="rId9" Type="http://schemas.openxmlformats.org/officeDocument/2006/relationships/hyperlink" Target="https://huggingface.co/datasets/InstaDeepAI/true-cds-protein-task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Rostlab/prot_bert" TargetMode="External"/><Relationship Id="rId7" Type="http://schemas.openxmlformats.org/officeDocument/2006/relationships/hyperlink" Target="https://huggingface.co/ctheodoris/Geneformer" TargetMode="External"/><Relationship Id="rId2" Type="http://schemas.openxmlformats.org/officeDocument/2006/relationships/hyperlink" Target="https://huggingface.co/facebook/esm2_t36_3B_UR50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tdc/scGPT" TargetMode="External"/><Relationship Id="rId5" Type="http://schemas.openxmlformats.org/officeDocument/2006/relationships/hyperlink" Target="https://huggingface.co/dmis-lab/biobert-v1.1" TargetMode="External"/><Relationship Id="rId4" Type="http://schemas.openxmlformats.org/officeDocument/2006/relationships/hyperlink" Target="https://huggingface.co/arcinstitute/evo2_40b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0A3CC-4BF2-2A31-B2B8-FF9595FF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10DD62-C336-EC8F-99EC-111110C8A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203A1-820B-2AC8-C656-36E54636775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74" r="3574"/>
          <a:stretch/>
        </p:blipFill>
        <p:spPr>
          <a:xfrm>
            <a:off x="751" y="-887"/>
            <a:ext cx="12202633" cy="6869652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BCE3CA-0269-1B3A-D01E-DE74325AE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" t="10909" r="-2650" b="18182"/>
          <a:stretch>
            <a:fillRect/>
          </a:stretch>
        </p:blipFill>
        <p:spPr>
          <a:xfrm>
            <a:off x="-2422" y="5836475"/>
            <a:ext cx="2915554" cy="847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5268F-FDCD-7B37-FB41-B41A69C97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81" y="68720"/>
            <a:ext cx="2925248" cy="10561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B28D6F-EEF4-B64C-8BCE-D058B84053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63" r="166" b="31329"/>
          <a:stretch>
            <a:fillRect/>
          </a:stretch>
        </p:blipFill>
        <p:spPr>
          <a:xfrm>
            <a:off x="7333487" y="5361438"/>
            <a:ext cx="4853909" cy="13312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BA63FC-89E2-A94F-63BE-05280696673C}"/>
              </a:ext>
            </a:extLst>
          </p:cNvPr>
          <p:cNvSpPr>
            <a:spLocks noGrp="1"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Lato" panose="020F0502020204030203" pitchFamily="34" charset="77"/>
                <a:ea typeface="+mj-ea"/>
                <a:cs typeface="+mj-cs"/>
              </a:defRPr>
            </a:lvl1pPr>
          </a:lstStyle>
          <a:p>
            <a:r>
              <a:rPr lang="en-US" dirty="0"/>
              <a:t>An Introduction to Foundation Models for Science</a:t>
            </a:r>
            <a:endParaRPr lang="en-US" dirty="0">
              <a:solidFill>
                <a:srgbClr val="1E3765"/>
              </a:solidFill>
              <a:ea typeface="Lato"/>
              <a:cs typeface="Lato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2B5804C-BBF7-F559-F697-3990EF21C613}"/>
              </a:ext>
            </a:extLst>
          </p:cNvPr>
          <p:cNvSpPr>
            <a:spLocks noGrp="1"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ato"/>
                <a:ea typeface="Lato"/>
                <a:cs typeface="Lato"/>
              </a:rPr>
              <a:t>Tutorial 3: Uncertainty quantification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97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2A43-66E8-9870-B871-E5C0FE0E6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Before we begin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0D09-C29D-E4CC-B365-406EF66DE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/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Open the notebook for this tutorial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pPr marL="514350" indent="-514350"/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Run the first 4 code cells (until the title Simple classifier)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6EE2-5F19-1446-DAAF-CFE4EEB3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3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9E23-C412-EE52-80BD-F39A8449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7896-B597-8CC5-5B78-1C89E7CC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Why uncertainty quantification?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3B9B-6777-34B7-33E0-27AB2B53A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How far are model predictions / generations from ground truth reality?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pPr marL="0" indent="0">
              <a:buNone/>
            </a:pP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Sources of uncertainty: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Inherent stochasticity of data generating process modeled (irreducible / </a:t>
            </a:r>
            <a:r>
              <a:rPr lang="en-US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aleatoric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uncertainty) </a:t>
            </a:r>
            <a:endParaRPr lang="en-US" dirty="0"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Model misspecification </a:t>
            </a:r>
            <a:endParaRPr lang="en-US"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Finite training data </a:t>
            </a:r>
            <a:endParaRPr lang="en-US">
              <a:solidFill>
                <a:srgbClr val="000000"/>
              </a:solidFill>
              <a:ea typeface="Lato" panose="020F0502020204030203" pitchFamily="34" charset="77"/>
              <a:cs typeface="Lato" panose="020F0502020204030203" pitchFamily="34" charset="77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…. </a:t>
            </a:r>
            <a:endParaRPr lang="en-US" dirty="0">
              <a:ea typeface="Lato" panose="020F0502020204030203" pitchFamily="34" charset="77"/>
              <a:cs typeface="Lato" panose="020F0502020204030203" pitchFamily="34" charset="77"/>
            </a:endParaRPr>
          </a:p>
          <a:p>
            <a:endParaRPr lang="en-US"/>
          </a:p>
          <a:p>
            <a:pPr marL="514350" indent="-514350"/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Decision making         reasoning about uncertainty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02D3E-6DFE-2F13-73A9-19204352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3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5FD784-DA48-44D2-10FC-8CC437901E12}"/>
              </a:ext>
            </a:extLst>
          </p:cNvPr>
          <p:cNvCxnSpPr/>
          <p:nvPr/>
        </p:nvCxnSpPr>
        <p:spPr>
          <a:xfrm>
            <a:off x="2608717" y="4308993"/>
            <a:ext cx="446116" cy="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4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4F45-FCA3-19E3-641C-17D1DB34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37F0-28F9-ACC2-68BC-F51F44AE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Model confidence &amp; calibration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A1BA-33F6-68D1-F287-199B88B77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Class probabilities, predict regression target + variance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Entropy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Needs to be </a:t>
            </a:r>
            <a:r>
              <a:rPr lang="en-US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calibrated</a:t>
            </a:r>
            <a:endParaRPr lang="en-US" i="1" dirty="0"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Predicted probabilities match true empirical frequencies</a:t>
            </a:r>
          </a:p>
          <a:p>
            <a:pPr marL="514350" indent="-514350"/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Example</a:t>
            </a:r>
            <a:endParaRPr lang="en-US" dirty="0"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73D1B-3B90-1279-F2FA-0E17DF72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0B9F61-452F-581C-95F8-745C1E30B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518550"/>
              </p:ext>
            </p:extLst>
          </p:nvPr>
        </p:nvGraphicFramePr>
        <p:xfrm>
          <a:off x="536222" y="3452518"/>
          <a:ext cx="10992580" cy="25501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29358">
                  <a:extLst>
                    <a:ext uri="{9D8B030D-6E8A-4147-A177-3AD203B41FA5}">
                      <a16:colId xmlns:a16="http://schemas.microsoft.com/office/drawing/2014/main" val="251856415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2681939932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1446946815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4105758323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1051258594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2979425884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45013883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3842122936"/>
                    </a:ext>
                  </a:extLst>
                </a:gridCol>
                <a:gridCol w="1067127">
                  <a:extLst>
                    <a:ext uri="{9D8B030D-6E8A-4147-A177-3AD203B41FA5}">
                      <a16:colId xmlns:a16="http://schemas.microsoft.com/office/drawing/2014/main" val="3587588551"/>
                    </a:ext>
                  </a:extLst>
                </a:gridCol>
                <a:gridCol w="1226206">
                  <a:extLst>
                    <a:ext uri="{9D8B030D-6E8A-4147-A177-3AD203B41FA5}">
                      <a16:colId xmlns:a16="http://schemas.microsoft.com/office/drawing/2014/main" val="3331750169"/>
                    </a:ext>
                  </a:extLst>
                </a:gridCol>
              </a:tblGrid>
              <a:tr h="361950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Data point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Model 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Model 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True Class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335989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Class 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730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1" dirty="0">
                          <a:solidFill>
                            <a:srgbClr val="DE2C2C"/>
                          </a:solidFill>
                          <a:effectLst/>
                          <a:latin typeface="Aptos"/>
                        </a:rPr>
                        <a:t>0.04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0.33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1" dirty="0">
                          <a:solidFill>
                            <a:srgbClr val="DE2C2C"/>
                          </a:solidFill>
                          <a:effectLst/>
                          <a:latin typeface="Aptos"/>
                        </a:rPr>
                        <a:t>0.28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0.15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29075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0.13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0.19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0.41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0.27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4158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0.26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0.32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0616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0.19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0.17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0.36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0.28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8574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1" dirty="0">
                          <a:solidFill>
                            <a:srgbClr val="DE2C2C"/>
                          </a:solidFill>
                          <a:effectLst/>
                          <a:latin typeface="Aptos"/>
                        </a:rPr>
                        <a:t>0.02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0.89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0.04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1" dirty="0">
                          <a:solidFill>
                            <a:srgbClr val="DE2C2C"/>
                          </a:solidFill>
                          <a:effectLst/>
                          <a:latin typeface="Aptos"/>
                        </a:rPr>
                        <a:t>0.27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0.29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0.23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47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9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3563-B2AF-90EB-9829-0D7383C1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5977-AD54-7F21-D821-79BF55A9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Lato"/>
                <a:ea typeface="Lato"/>
                <a:cs typeface="Lato"/>
              </a:rPr>
              <a:t>Ensembling</a:t>
            </a:r>
            <a:r>
              <a:rPr lang="en-US" dirty="0">
                <a:latin typeface="Lato"/>
                <a:ea typeface="Lato"/>
                <a:cs typeface="Lato"/>
              </a:rPr>
              <a:t>, multiple inference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F133A-B252-D737-D0D8-BBD8AFCA3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Deep ensembles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latin typeface="Lato"/>
                <a:ea typeface="Lato"/>
                <a:cs typeface="Lato"/>
              </a:rPr>
              <a:t>Impractical to train ensemble of FMs </a:t>
            </a:r>
            <a:endParaRPr lang="en-US">
              <a:ea typeface="Lato"/>
              <a:cs typeface="Lato"/>
            </a:endParaRPr>
          </a:p>
          <a:p>
            <a:endParaRPr lang="en-US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MC dropout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Leave dropout on during inference, generate multiple inferences </a:t>
            </a:r>
            <a:endParaRPr lang="en-US"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latin typeface="Lato"/>
                <a:ea typeface="Lato"/>
                <a:cs typeface="Lato"/>
              </a:rPr>
              <a:t>Variance in predictions due to random dropout quantifies model uncertainty </a:t>
            </a:r>
            <a:endParaRPr lang="en-US"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Very easy to implement and use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FBC74-9395-2DB1-F2FF-2EF4C0F2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85F5A4-343E-C72A-491F-0B360C968D3F}"/>
              </a:ext>
            </a:extLst>
          </p:cNvPr>
          <p:cNvGrpSpPr/>
          <p:nvPr/>
        </p:nvGrpSpPr>
        <p:grpSpPr>
          <a:xfrm>
            <a:off x="4436012" y="4334433"/>
            <a:ext cx="6297646" cy="1592868"/>
            <a:chOff x="3993863" y="4334430"/>
            <a:chExt cx="8563602" cy="1934315"/>
          </a:xfrm>
        </p:grpSpPr>
        <p:pic>
          <p:nvPicPr>
            <p:cNvPr id="14" name="Picture 13" descr="A diagram of a network&#10;&#10;AI-generated content may be incorrect.">
              <a:extLst>
                <a:ext uri="{FF2B5EF4-FFF2-40B4-BE49-F238E27FC236}">
                  <a16:creationId xmlns:a16="http://schemas.microsoft.com/office/drawing/2014/main" id="{8FD4E9FD-4EEF-F9AD-A257-A042EC074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1103" y="4980266"/>
              <a:ext cx="1709708" cy="1288479"/>
            </a:xfrm>
            <a:prstGeom prst="rect">
              <a:avLst/>
            </a:prstGeom>
          </p:spPr>
        </p:pic>
        <p:pic>
          <p:nvPicPr>
            <p:cNvPr id="15" name="Picture 14" descr="A diagram of a network&#10;&#10;AI-generated content may be incorrect.">
              <a:extLst>
                <a:ext uri="{FF2B5EF4-FFF2-40B4-BE49-F238E27FC236}">
                  <a16:creationId xmlns:a16="http://schemas.microsoft.com/office/drawing/2014/main" id="{96D1B164-CD3D-E3B5-2A0B-1EE10BD03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0810" y="4980266"/>
              <a:ext cx="1709708" cy="1288479"/>
            </a:xfrm>
            <a:prstGeom prst="rect">
              <a:avLst/>
            </a:prstGeom>
          </p:spPr>
        </p:pic>
        <p:pic>
          <p:nvPicPr>
            <p:cNvPr id="16" name="Picture 15" descr="A diagram of a network&#10;&#10;AI-generated content may be incorrect.">
              <a:extLst>
                <a:ext uri="{FF2B5EF4-FFF2-40B4-BE49-F238E27FC236}">
                  <a16:creationId xmlns:a16="http://schemas.microsoft.com/office/drawing/2014/main" id="{4D4EAADA-5FDE-D009-9B74-D65EF2A67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8049" y="4980265"/>
              <a:ext cx="1709708" cy="1288479"/>
            </a:xfrm>
            <a:prstGeom prst="rect">
              <a:avLst/>
            </a:prstGeom>
          </p:spPr>
        </p:pic>
        <p:pic>
          <p:nvPicPr>
            <p:cNvPr id="17" name="Picture 16" descr="A diagram of a network&#10;&#10;AI-generated content may be incorrect.">
              <a:extLst>
                <a:ext uri="{FF2B5EF4-FFF2-40B4-BE49-F238E27FC236}">
                  <a16:creationId xmlns:a16="http://schemas.microsoft.com/office/drawing/2014/main" id="{D49E85F5-2E9B-3404-BDFB-4FBA52797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7757" y="4980266"/>
              <a:ext cx="1709708" cy="1288479"/>
            </a:xfrm>
            <a:prstGeom prst="rect">
              <a:avLst/>
            </a:prstGeom>
          </p:spPr>
        </p:pic>
        <p:pic>
          <p:nvPicPr>
            <p:cNvPr id="18" name="Picture 17" descr="A diagram of a network&#10;&#10;AI-generated content may be incorrect.">
              <a:extLst>
                <a:ext uri="{FF2B5EF4-FFF2-40B4-BE49-F238E27FC236}">
                  <a16:creationId xmlns:a16="http://schemas.microsoft.com/office/drawing/2014/main" id="{8AD48902-E167-66BF-7791-ABEDBB68D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3863" y="4980265"/>
              <a:ext cx="1709708" cy="1288479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33E728-1263-2E76-49EA-3A28FA08E3F4}"/>
                </a:ext>
              </a:extLst>
            </p:cNvPr>
            <p:cNvSpPr/>
            <p:nvPr/>
          </p:nvSpPr>
          <p:spPr>
            <a:xfrm>
              <a:off x="8492187" y="6032078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0476DA0-EC7B-7B1D-3EFD-F72FD55FEB7C}"/>
                </a:ext>
              </a:extLst>
            </p:cNvPr>
            <p:cNvSpPr/>
            <p:nvPr/>
          </p:nvSpPr>
          <p:spPr>
            <a:xfrm>
              <a:off x="6784059" y="6032078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DD4D14-787B-8EF0-9B73-FF3E03B2BBD1}"/>
                </a:ext>
              </a:extLst>
            </p:cNvPr>
            <p:cNvSpPr/>
            <p:nvPr/>
          </p:nvSpPr>
          <p:spPr>
            <a:xfrm>
              <a:off x="6137146" y="5552610"/>
              <a:ext cx="195403" cy="1780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7A8FD4D-B091-5EA9-920E-2DCC535A6212}"/>
                </a:ext>
              </a:extLst>
            </p:cNvPr>
            <p:cNvSpPr/>
            <p:nvPr/>
          </p:nvSpPr>
          <p:spPr>
            <a:xfrm>
              <a:off x="6784058" y="5552609"/>
              <a:ext cx="195403" cy="1780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EEB601A-1EFB-86EF-FCD5-EEF81EE3E238}"/>
                </a:ext>
              </a:extLst>
            </p:cNvPr>
            <p:cNvSpPr/>
            <p:nvPr/>
          </p:nvSpPr>
          <p:spPr>
            <a:xfrm>
              <a:off x="6465417" y="6032078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336CAAD-4EDF-22D3-5893-D4F018465D5A}"/>
                </a:ext>
              </a:extLst>
            </p:cNvPr>
            <p:cNvSpPr/>
            <p:nvPr/>
          </p:nvSpPr>
          <p:spPr>
            <a:xfrm>
              <a:off x="8173546" y="5552609"/>
              <a:ext cx="195403" cy="1780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D1A061E-AE93-E807-926C-43111E0249FD}"/>
                </a:ext>
              </a:extLst>
            </p:cNvPr>
            <p:cNvSpPr/>
            <p:nvPr/>
          </p:nvSpPr>
          <p:spPr>
            <a:xfrm>
              <a:off x="7843638" y="6032077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17C27FD-ED36-3353-62C2-0A56B3E59C4E}"/>
                </a:ext>
              </a:extLst>
            </p:cNvPr>
            <p:cNvSpPr/>
            <p:nvPr/>
          </p:nvSpPr>
          <p:spPr>
            <a:xfrm>
              <a:off x="4746841" y="6032078"/>
              <a:ext cx="195403" cy="17805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AFD83CE-D19D-393A-3E37-CCE5A344055A}"/>
                </a:ext>
              </a:extLst>
            </p:cNvPr>
            <p:cNvSpPr/>
            <p:nvPr/>
          </p:nvSpPr>
          <p:spPr>
            <a:xfrm>
              <a:off x="9562624" y="5552608"/>
              <a:ext cx="195403" cy="1780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C64CE26-CCA5-7859-1858-9BF2A0362631}"/>
                </a:ext>
              </a:extLst>
            </p:cNvPr>
            <p:cNvSpPr/>
            <p:nvPr/>
          </p:nvSpPr>
          <p:spPr>
            <a:xfrm>
              <a:off x="10952109" y="6032077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86D988-F090-A357-756A-155F443DC2CB}"/>
                </a:ext>
              </a:extLst>
            </p:cNvPr>
            <p:cNvSpPr/>
            <p:nvPr/>
          </p:nvSpPr>
          <p:spPr>
            <a:xfrm>
              <a:off x="11924931" y="5552609"/>
              <a:ext cx="195403" cy="1780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645B73D-2214-5413-6C46-2B1725C0BAA7}"/>
                </a:ext>
              </a:extLst>
            </p:cNvPr>
            <p:cNvSpPr/>
            <p:nvPr/>
          </p:nvSpPr>
          <p:spPr>
            <a:xfrm>
              <a:off x="11599840" y="5552609"/>
              <a:ext cx="195403" cy="1780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014BA62-07A4-97F0-C153-2D09D523C760}"/>
                </a:ext>
              </a:extLst>
            </p:cNvPr>
            <p:cNvSpPr/>
            <p:nvPr/>
          </p:nvSpPr>
          <p:spPr>
            <a:xfrm>
              <a:off x="10540259" y="6032077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0055C2-4A22-289D-29D7-AA27FC1EF82A}"/>
                </a:ext>
              </a:extLst>
            </p:cNvPr>
            <p:cNvSpPr/>
            <p:nvPr/>
          </p:nvSpPr>
          <p:spPr>
            <a:xfrm>
              <a:off x="10216803" y="6032077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8890BA1-ECA9-2BF0-7D5B-4EB1C5AA001F}"/>
                </a:ext>
              </a:extLst>
            </p:cNvPr>
            <p:cNvSpPr/>
            <p:nvPr/>
          </p:nvSpPr>
          <p:spPr>
            <a:xfrm>
              <a:off x="9562623" y="6032078"/>
              <a:ext cx="195403" cy="18333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3BD753A-1280-E683-9ED9-9A2557BAD6A0}"/>
                </a:ext>
              </a:extLst>
            </p:cNvPr>
            <p:cNvSpPr/>
            <p:nvPr/>
          </p:nvSpPr>
          <p:spPr>
            <a:xfrm>
              <a:off x="6203475" y="4379474"/>
              <a:ext cx="4134888" cy="3377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AC2BDE7-83E2-64C3-C093-3C9A18BF0567}"/>
                </a:ext>
              </a:extLst>
            </p:cNvPr>
            <p:cNvCxnSpPr/>
            <p:nvPr/>
          </p:nvCxnSpPr>
          <p:spPr>
            <a:xfrm flipV="1">
              <a:off x="4854339" y="4441827"/>
              <a:ext cx="2293613" cy="616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61DD462-7187-2BAB-D2CE-80311EC17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23939" y="4426000"/>
              <a:ext cx="838025" cy="6377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65194D7-1462-2FC1-AD38-9D435C6F96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2601" y="4441826"/>
              <a:ext cx="1671626" cy="6166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E8834B6-FB1D-B7C9-C079-B6A7502C17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9129" y="4415449"/>
              <a:ext cx="260302" cy="6588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D9DE918-4BA9-78E0-AD3A-6E5C9F7BC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02697" y="4431276"/>
              <a:ext cx="3783793" cy="632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9DC155F-4E9F-31BE-C557-E24B16719902}"/>
                </a:ext>
              </a:extLst>
            </p:cNvPr>
            <p:cNvSpPr/>
            <p:nvPr/>
          </p:nvSpPr>
          <p:spPr>
            <a:xfrm>
              <a:off x="6803329" y="4334431"/>
              <a:ext cx="94768" cy="94768"/>
            </a:xfrm>
            <a:prstGeom prst="ellipse">
              <a:avLst/>
            </a:prstGeom>
            <a:solidFill>
              <a:srgbClr val="DE2C2C"/>
            </a:solidFill>
            <a:ln>
              <a:solidFill>
                <a:srgbClr val="DE2C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2E47AB7-C637-1787-B822-FB42DAAB3724}"/>
                </a:ext>
              </a:extLst>
            </p:cNvPr>
            <p:cNvSpPr/>
            <p:nvPr/>
          </p:nvSpPr>
          <p:spPr>
            <a:xfrm>
              <a:off x="7141259" y="4334430"/>
              <a:ext cx="94768" cy="94768"/>
            </a:xfrm>
            <a:prstGeom prst="ellipse">
              <a:avLst/>
            </a:prstGeom>
            <a:solidFill>
              <a:srgbClr val="DE2C2C"/>
            </a:solidFill>
            <a:ln>
              <a:solidFill>
                <a:srgbClr val="DE2C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D68DC06-1CDA-0B55-1FE2-5EE1557DD937}"/>
                </a:ext>
              </a:extLst>
            </p:cNvPr>
            <p:cNvSpPr/>
            <p:nvPr/>
          </p:nvSpPr>
          <p:spPr>
            <a:xfrm>
              <a:off x="7340041" y="4334430"/>
              <a:ext cx="94768" cy="94768"/>
            </a:xfrm>
            <a:prstGeom prst="ellipse">
              <a:avLst/>
            </a:prstGeom>
            <a:solidFill>
              <a:srgbClr val="DE2C2C"/>
            </a:solidFill>
            <a:ln>
              <a:solidFill>
                <a:srgbClr val="DE2C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2F17B7A-E139-BB2A-41A2-E1386B50E72B}"/>
                </a:ext>
              </a:extLst>
            </p:cNvPr>
            <p:cNvSpPr/>
            <p:nvPr/>
          </p:nvSpPr>
          <p:spPr>
            <a:xfrm>
              <a:off x="7823746" y="4334430"/>
              <a:ext cx="94768" cy="94768"/>
            </a:xfrm>
            <a:prstGeom prst="ellipse">
              <a:avLst/>
            </a:prstGeom>
            <a:solidFill>
              <a:srgbClr val="DE2C2C"/>
            </a:solidFill>
            <a:ln>
              <a:solidFill>
                <a:srgbClr val="DE2C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FFA0AB-D8A9-EEE8-0158-7454433FA595}"/>
                </a:ext>
              </a:extLst>
            </p:cNvPr>
            <p:cNvSpPr/>
            <p:nvPr/>
          </p:nvSpPr>
          <p:spPr>
            <a:xfrm>
              <a:off x="8227937" y="4334430"/>
              <a:ext cx="94768" cy="94768"/>
            </a:xfrm>
            <a:prstGeom prst="ellipse">
              <a:avLst/>
            </a:prstGeom>
            <a:solidFill>
              <a:srgbClr val="DE2C2C"/>
            </a:solidFill>
            <a:ln>
              <a:solidFill>
                <a:srgbClr val="DE2C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70">
            <a:extLst>
              <a:ext uri="{FF2B5EF4-FFF2-40B4-BE49-F238E27FC236}">
                <a16:creationId xmlns:a16="http://schemas.microsoft.com/office/drawing/2014/main" id="{0D3F83BD-0BC8-311F-4122-AD1A647F1159}"/>
              </a:ext>
            </a:extLst>
          </p:cNvPr>
          <p:cNvSpPr txBox="1"/>
          <p:nvPr/>
        </p:nvSpPr>
        <p:spPr>
          <a:xfrm>
            <a:off x="909103" y="4925202"/>
            <a:ext cx="420400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Different random drop-out patterns for multiple predictions in inference</a:t>
            </a:r>
          </a:p>
        </p:txBody>
      </p:sp>
      <p:sp>
        <p:nvSpPr>
          <p:cNvPr id="7" name="TextBox 72">
            <a:extLst>
              <a:ext uri="{FF2B5EF4-FFF2-40B4-BE49-F238E27FC236}">
                <a16:creationId xmlns:a16="http://schemas.microsoft.com/office/drawing/2014/main" id="{36AE7ECD-2C94-A4E8-0B3B-87D856487583}"/>
              </a:ext>
            </a:extLst>
          </p:cNvPr>
          <p:cNvSpPr txBox="1"/>
          <p:nvPr/>
        </p:nvSpPr>
        <p:spPr>
          <a:xfrm>
            <a:off x="5605936" y="6269377"/>
            <a:ext cx="3959412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One 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DE1114-4710-A5E5-36EA-E4B2FC5B775E}"/>
              </a:ext>
            </a:extLst>
          </p:cNvPr>
          <p:cNvCxnSpPr/>
          <p:nvPr/>
        </p:nvCxnSpPr>
        <p:spPr>
          <a:xfrm flipH="1" flipV="1">
            <a:off x="5133443" y="5924215"/>
            <a:ext cx="609470" cy="352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F9CE43-2DF0-3929-D313-1598AA27C2AA}"/>
              </a:ext>
            </a:extLst>
          </p:cNvPr>
          <p:cNvCxnSpPr>
            <a:cxnSpLocks/>
          </p:cNvCxnSpPr>
          <p:nvPr/>
        </p:nvCxnSpPr>
        <p:spPr>
          <a:xfrm flipV="1">
            <a:off x="6310710" y="5933621"/>
            <a:ext cx="1193" cy="32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BC62A9-1182-A9F7-FDA1-1912F57124EA}"/>
              </a:ext>
            </a:extLst>
          </p:cNvPr>
          <p:cNvCxnSpPr>
            <a:cxnSpLocks/>
          </p:cNvCxnSpPr>
          <p:nvPr/>
        </p:nvCxnSpPr>
        <p:spPr>
          <a:xfrm flipV="1">
            <a:off x="9474952" y="5910960"/>
            <a:ext cx="600567" cy="360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45">
            <a:extLst>
              <a:ext uri="{FF2B5EF4-FFF2-40B4-BE49-F238E27FC236}">
                <a16:creationId xmlns:a16="http://schemas.microsoft.com/office/drawing/2014/main" id="{E0598351-A47A-58F4-AE9F-96CCFC6A9FF9}"/>
              </a:ext>
            </a:extLst>
          </p:cNvPr>
          <p:cNvSpPr txBox="1"/>
          <p:nvPr/>
        </p:nvSpPr>
        <p:spPr>
          <a:xfrm>
            <a:off x="1467003" y="4148639"/>
            <a:ext cx="448622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Multiple predictions for a single input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879EBF-E8BB-4F7A-5C03-4CEF2F728B39}"/>
              </a:ext>
            </a:extLst>
          </p:cNvPr>
          <p:cNvCxnSpPr>
            <a:cxnSpLocks/>
          </p:cNvCxnSpPr>
          <p:nvPr/>
        </p:nvCxnSpPr>
        <p:spPr>
          <a:xfrm flipV="1">
            <a:off x="7580710" y="5933621"/>
            <a:ext cx="1193" cy="32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3DAB47-7CBC-AAC9-5F58-C0445366C3F6}"/>
              </a:ext>
            </a:extLst>
          </p:cNvPr>
          <p:cNvCxnSpPr>
            <a:cxnSpLocks/>
          </p:cNvCxnSpPr>
          <p:nvPr/>
        </p:nvCxnSpPr>
        <p:spPr>
          <a:xfrm flipV="1">
            <a:off x="8860117" y="5933621"/>
            <a:ext cx="1193" cy="32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64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7811-D84A-E765-4E1C-87341487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95B3-6EB1-7463-4A9E-260EAE56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Conformal prediction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84BE-C3C7-8E56-F461-0010C0F73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Model-agnostic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method that wraps around any predictor.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Theoretical coverage guarantees without assuming normality or calibration.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Simplest form: use calibration set to define the quantile of a conformity score (e.g. residuals, loss) that matches your desired confidence level, α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Lato"/>
              <a:ea typeface="Lato"/>
              <a:cs typeface="La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Lato"/>
                <a:ea typeface="Lato"/>
                <a:cs typeface="Lato"/>
              </a:rPr>
              <a:t>ie</a:t>
            </a:r>
            <a:r>
              <a:rPr lang="en-US" dirty="0">
                <a:latin typeface="Lato"/>
                <a:ea typeface="Lato"/>
                <a:cs typeface="Lato"/>
              </a:rPr>
              <a:t> </a:t>
            </a:r>
            <a:endParaRPr lang="en-US" dirty="0">
              <a:ea typeface="Lato" panose="020F0502020204030203" pitchFamily="34" charset="77"/>
              <a:cs typeface="Lato" panose="020F0502020204030203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1CA5E-BFAF-AA14-3687-6CE58D93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40145-8551-A65A-E385-C880F1C6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84" y="3163828"/>
            <a:ext cx="3223331" cy="2104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241AB1-FDED-69C3-515C-649A2159B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433" y="4846892"/>
            <a:ext cx="2423820" cy="22779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DAF3F1-BEDC-1FDA-C467-136029A20C20}"/>
              </a:ext>
            </a:extLst>
          </p:cNvPr>
          <p:cNvCxnSpPr/>
          <p:nvPr/>
        </p:nvCxnSpPr>
        <p:spPr>
          <a:xfrm flipV="1">
            <a:off x="2245346" y="3380726"/>
            <a:ext cx="433943" cy="55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25E7E0-A31F-4387-50F6-A83D65C17F41}"/>
              </a:ext>
            </a:extLst>
          </p:cNvPr>
          <p:cNvCxnSpPr>
            <a:cxnSpLocks/>
          </p:cNvCxnSpPr>
          <p:nvPr/>
        </p:nvCxnSpPr>
        <p:spPr>
          <a:xfrm flipH="1" flipV="1">
            <a:off x="3341586" y="3383966"/>
            <a:ext cx="547591" cy="1441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288F7E5E-590F-BCE7-7797-1B3329889B94}"/>
              </a:ext>
            </a:extLst>
          </p:cNvPr>
          <p:cNvSpPr txBox="1"/>
          <p:nvPr/>
        </p:nvSpPr>
        <p:spPr>
          <a:xfrm>
            <a:off x="1034022" y="3833004"/>
            <a:ext cx="253363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Predictor from train set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D02FE7D6-1D0D-4DB6-8143-3F5835AABADA}"/>
              </a:ext>
            </a:extLst>
          </p:cNvPr>
          <p:cNvSpPr txBox="1"/>
          <p:nvPr/>
        </p:nvSpPr>
        <p:spPr>
          <a:xfrm>
            <a:off x="3511254" y="3466116"/>
            <a:ext cx="2152631" cy="3755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From calibration set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274762B1-DCC2-CA64-B632-4C6E1CD74179}"/>
              </a:ext>
            </a:extLst>
          </p:cNvPr>
          <p:cNvSpPr txBox="1"/>
          <p:nvPr/>
        </p:nvSpPr>
        <p:spPr>
          <a:xfrm>
            <a:off x="725197" y="4682909"/>
            <a:ext cx="253987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Ordered residuals in calibration set</a:t>
            </a:r>
          </a:p>
        </p:txBody>
      </p:sp>
    </p:spTree>
    <p:extLst>
      <p:ext uri="{BB962C8B-B14F-4D97-AF65-F5344CB8AC3E}">
        <p14:creationId xmlns:p14="http://schemas.microsoft.com/office/powerpoint/2010/main" val="169478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E1B5-7608-5245-71FA-2C28933C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A26D-BF53-353F-7A50-823C8703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Some UQ Resources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DB23-3C5E-7A39-5990-773609E20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2"/>
              </a:rPr>
              <a:t>https://www.ibm.com/think/topics/uncertainty-quantification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3"/>
              </a:rPr>
              <a:t>A survey of uncertainty in deep neural networks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4"/>
              </a:rPr>
              <a:t>ICLR 2025 Workshop: Quantify Uncertainty and Hallucination in Foundation Models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Aleatoric and epistemic uncertainty: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5"/>
              </a:rPr>
              <a:t>https://arxiv.org/pdf/1910.09457</a:t>
            </a:r>
            <a:endParaRPr lang="en-US" dirty="0">
              <a:ea typeface="Lato"/>
              <a:cs typeface="Lato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Calibration and temperature scaling: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6"/>
              </a:rPr>
              <a:t>https://geoffpleiss.com/blog/nn_calibration.html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MC dropout: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7"/>
              </a:rPr>
              <a:t>https://arxiv.org/pdf/1506.02142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Heteroscedastic model with MC dropout: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8"/>
              </a:rPr>
              <a:t>https://arxiv.org/pdf/1703.04977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Conformal prediction: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9"/>
              </a:rPr>
              <a:t>https://www.stat.berkeley.edu/~ryantibs/statlearn-s23/lectures/conformal.pdf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Conformalized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quantile regression: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10"/>
              </a:rPr>
              <a:t>https://arxiv.org/pdf/1905.03222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>
              <a:ea typeface="Lato" panose="020F0502020204030203" pitchFamily="34" charset="77"/>
              <a:cs typeface="Lato" panose="020F0502020204030203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9C035-E5C7-B446-93C5-C450BABD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8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9A5B72-91E4-DA79-EFD7-0BB0032C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BB1D-5AAD-3C28-EAD1-44FE0EF3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Bio datasets on </a:t>
            </a:r>
            <a:r>
              <a:rPr lang="en-US" dirty="0" err="1">
                <a:latin typeface="Lato"/>
                <a:ea typeface="Lato"/>
                <a:cs typeface="Lato"/>
              </a:rPr>
              <a:t>huggingface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5E27-D9FF-E2E4-9314-9F5996D93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Uniprot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protein sequences: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https://huggingface.co/datasets/damlab/uniprot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Protein sequence to structure: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3"/>
              </a:rPr>
              <a:t>https://huggingface.co/datasets/lamm-mit/protein_secondary_structure_from_PDB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Protein function: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4"/>
              </a:rPr>
              <a:t>https://huggingface.co/datasets/Protein-FN/Protein-FN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Enzyme binary classification: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5"/>
              </a:rPr>
              <a:t>https://huggingface.co/datasets/graphs-datasets/PROTEINS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Proteingym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6"/>
              </a:rPr>
              <a:t>https://huggingface.co/datasets/ICML2022/ProteinGym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Protein binding: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7"/>
              </a:rPr>
              <a:t>https://huggingface.co/datasets/ronig/protein_binding_sequences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cellXgene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single cell datasets: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8"/>
              </a:rPr>
              <a:t>https://cellxgene.cziscience.com/datasets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Gene coding sequence tasks: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9"/>
              </a:rPr>
              <a:t>https://huggingface.co/datasets/InstaDeepAI/true-cds-protein-tasks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5D2AB-8B63-4DC4-4C15-B77B99B1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2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B84AAA-336F-67A7-A2F5-40079526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3880-9E58-799E-CB40-4B2E2454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/>
                <a:ea typeface="Lato"/>
                <a:cs typeface="Lato"/>
              </a:rPr>
              <a:t>Some foundation models for bio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6F39C-E474-7310-18A3-B0AD553FA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ESM-2 (protein):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2"/>
              </a:rPr>
              <a:t>https://huggingface.co/facebook/esm2_t36_3B_UR50D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>
              <a:solidFill>
                <a:srgbClr val="000000"/>
              </a:solidFill>
              <a:ea typeface="Lato"/>
              <a:cs typeface="Lato"/>
            </a:endParaRPr>
          </a:p>
          <a:p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Prot_bert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3"/>
              </a:rPr>
              <a:t>https://huggingface.co/Rostlab/prot_bert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EVO-2 (DNA):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4"/>
              </a:rPr>
              <a:t>https://huggingface.co/arcinstitute/evo2_40b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  <a:p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Biobert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(biomedical LLM):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5"/>
              </a:rPr>
              <a:t>https://huggingface.co/dmis-lab/biobert-v1.1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scGPT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sc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gene expression):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6"/>
              </a:rPr>
              <a:t>https://huggingface.co/tdc/scGPT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>
              <a:ea typeface="Lato" panose="020F0502020204030203" pitchFamily="34" charset="77"/>
              <a:cs typeface="Lato" panose="020F0502020204030203" pitchFamily="34" charset="77"/>
            </a:endParaRPr>
          </a:p>
          <a:p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Geneformer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(gene expression): 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hlinkClick r:id="rId7"/>
              </a:rPr>
              <a:t>https://huggingface.co/ctheodoris/Geneformer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32751-14AF-F2B5-ABC0-8E331FD9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5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A42FB8-38FA-6D5A-EC5A-764F80E5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49577-77E6-7B48-B2C9-0A88E992741D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 descr="A logo with a leaf and text&#10;&#10;AI-generated content may be incorrect.">
            <a:extLst>
              <a:ext uri="{FF2B5EF4-FFF2-40B4-BE49-F238E27FC236}">
                <a16:creationId xmlns:a16="http://schemas.microsoft.com/office/drawing/2014/main" id="{CD470F99-8969-5778-4A7D-AD5C1EDF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43" y="632460"/>
            <a:ext cx="7815914" cy="553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Before we begin</vt:lpstr>
      <vt:lpstr>Why uncertainty quantification?</vt:lpstr>
      <vt:lpstr>Model confidence &amp; calibration </vt:lpstr>
      <vt:lpstr>Ensembling, multiple inference </vt:lpstr>
      <vt:lpstr>Conformal prediction </vt:lpstr>
      <vt:lpstr>Some UQ Resources </vt:lpstr>
      <vt:lpstr>Bio datasets on huggingface </vt:lpstr>
      <vt:lpstr>Some foundation models for bio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Ishrath Mohamed Irshadeen</dc:creator>
  <cp:revision>118</cp:revision>
  <dcterms:created xsi:type="dcterms:W3CDTF">2025-10-14T16:39:43Z</dcterms:created>
  <dcterms:modified xsi:type="dcterms:W3CDTF">2025-10-30T13:43:17Z</dcterms:modified>
</cp:coreProperties>
</file>