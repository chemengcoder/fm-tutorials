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3" r:id="rId5"/>
    <p:sldId id="264" r:id="rId6"/>
    <p:sldId id="265" r:id="rId7"/>
    <p:sldId id="268" r:id="rId8"/>
    <p:sldId id="266" r:id="rId9"/>
    <p:sldId id="267" r:id="rId10"/>
    <p:sldId id="257" r:id="rId11"/>
    <p:sldId id="259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167EE1-B900-4046-8A95-F89F88EBC732}">
          <p14:sldIdLst>
            <p14:sldId id="260"/>
            <p14:sldId id="261"/>
            <p14:sldId id="262"/>
            <p14:sldId id="263"/>
            <p14:sldId id="264"/>
            <p14:sldId id="265"/>
            <p14:sldId id="268"/>
            <p14:sldId id="266"/>
            <p14:sldId id="267"/>
            <p14:sldId id="257"/>
            <p14:sldId id="259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765"/>
    <a:srgbClr val="FDEBF3"/>
    <a:srgbClr val="F26A43"/>
    <a:srgbClr val="00B3B5"/>
    <a:srgbClr val="155C7D"/>
    <a:srgbClr val="079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5"/>
    <p:restoredTop sz="94663"/>
  </p:normalViewPr>
  <p:slideViewPr>
    <p:cSldViewPr snapToGrid="0">
      <p:cViewPr varScale="1">
        <p:scale>
          <a:sx n="129" d="100"/>
          <a:sy n="129" d="100"/>
        </p:scale>
        <p:origin x="224" y="216"/>
      </p:cViewPr>
      <p:guideLst>
        <p:guide orient="horz" pos="2160"/>
        <p:guide pos="3840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1FE25-AD4A-7440-85B1-83F41E7D319A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B6E2F-A4CB-2C45-9911-D356C6583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2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248C7-4882-FF19-D4D9-E3E2377730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4" r="3574"/>
          <a:stretch/>
        </p:blipFill>
        <p:spPr>
          <a:xfrm>
            <a:off x="-147276" y="-84221"/>
            <a:ext cx="12481141" cy="7026442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222F96-9BC9-3412-19F6-628F0B2C0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F3EB8-0347-2B20-4B40-26ED7474A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75075-14D0-0663-84C5-42848A84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FF8B7-41BD-EEFE-B580-7DCA041F8B18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014BE-7325-159E-99B4-50BB0605D4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81" y="68720"/>
            <a:ext cx="2925248" cy="1056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8779C8-79CB-A290-C6CE-DDD97D8929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t="10909" r="-2650" b="18182"/>
          <a:stretch>
            <a:fillRect/>
          </a:stretch>
        </p:blipFill>
        <p:spPr>
          <a:xfrm>
            <a:off x="-2422" y="5836475"/>
            <a:ext cx="2915554" cy="847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8D9921-A4EB-E875-4104-1B4655D39A8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3" r="166" b="31329"/>
          <a:stretch>
            <a:fillRect/>
          </a:stretch>
        </p:blipFill>
        <p:spPr>
          <a:xfrm>
            <a:off x="7333487" y="5361438"/>
            <a:ext cx="4853909" cy="133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5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5008-DA9D-D8FF-47A8-6460BF1D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C3F26-2813-0124-DA91-D038C52D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D416-BDF3-2198-E2F8-460C334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B4005-9551-64C5-7A50-5F2AC7FF9703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2E46D-EDF2-AB8F-5E71-BAF033CB69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950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EEFB-8AB9-356D-4305-3C2DA099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4CD9A-A2F2-AC30-F308-66E14F73D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2A99-898D-A13D-7563-D3126F0D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50C1-E5BA-CAA0-AAEA-5618D0F7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8166-54BC-C42B-0E98-1C7F2BCDE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8A93C-C1E9-6BB2-5CF0-244B3266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46A09-31A7-655D-28FA-EBECD194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D717AF-6819-2DD5-000E-DB2A7F7711B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696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D555-52B0-3FB5-A1AC-F511F68A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924A-401D-F346-F528-4FDA756A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E1651-A6D9-B98E-B658-37EEDCAC0918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FDFA331-7D2E-9BBD-DF76-CFEB32D8660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704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D99AB-6296-D348-732A-569A65E7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7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370AB-AF7A-E925-DB27-9E15971B0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logo with a leaf and text&#10;&#10;AI-generated content may be incorrect.">
            <a:extLst>
              <a:ext uri="{FF2B5EF4-FFF2-40B4-BE49-F238E27FC236}">
                <a16:creationId xmlns:a16="http://schemas.microsoft.com/office/drawing/2014/main" id="{F242A179-D2FE-1749-1E71-2EE8C29C22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043" y="632460"/>
            <a:ext cx="7815914" cy="55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7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DFD0-483D-E7B4-AAD1-880F9187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1B7F8-2CA7-1680-7B29-C7C4A1658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4617E-B412-D256-EE19-76151876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CD26-234C-5240-A9AB-0D2514949C5E}" type="datetimeFigureOut"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85C3D-00AF-D648-58E1-8A175B4F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E9C17-A627-D041-A445-2F23B5E6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7E13-AB64-A848-9D8D-1B93532727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3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5B822-E15C-0295-4F9F-4B4B6310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65126"/>
            <a:ext cx="11522075" cy="903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AE60C-3EFB-DE58-82F8-DEFCC9061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3"/>
            <a:ext cx="11522075" cy="4692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9824-E13E-D54C-3D43-5BEC5C299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86" y="6323299"/>
            <a:ext cx="7004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97D49577-77E6-7B48-B2C9-0A88E9927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8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Lato" panose="020F050202020403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A3CC-4BF2-2A31-B2B8-FF9595F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10DD62-C336-EC8F-99EC-111110C8A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203A1-820B-2AC8-C656-36E54636775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4" r="3574"/>
          <a:stretch/>
        </p:blipFill>
        <p:spPr>
          <a:xfrm>
            <a:off x="751" y="-887"/>
            <a:ext cx="12202633" cy="6869652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CE3CA-0269-1B3A-D01E-DE74325AE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t="10909" r="-2650" b="18182"/>
          <a:stretch>
            <a:fillRect/>
          </a:stretch>
        </p:blipFill>
        <p:spPr>
          <a:xfrm>
            <a:off x="-2422" y="5836475"/>
            <a:ext cx="2915554" cy="847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5268F-FDCD-7B37-FB41-B41A69C97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81" y="68720"/>
            <a:ext cx="2925248" cy="10561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B28D6F-EEF4-B64C-8BCE-D058B84053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3" r="166" b="31329"/>
          <a:stretch>
            <a:fillRect/>
          </a:stretch>
        </p:blipFill>
        <p:spPr>
          <a:xfrm>
            <a:off x="7333487" y="5361438"/>
            <a:ext cx="4853909" cy="133123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2B5804C-BBF7-F559-F697-3990EF21C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Tutorial # 3 Latent Space Analysis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12584-0A4E-A747-4111-163CD80CC6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1E3765"/>
                </a:solidFill>
                <a:latin typeface="Lato"/>
                <a:ea typeface="Lato"/>
                <a:cs typeface="Lato"/>
              </a:rPr>
              <a:t>Foundation Models Workshop</a:t>
            </a:r>
            <a:endParaRPr lang="en-US">
              <a:solidFill>
                <a:srgbClr val="1E3765"/>
              </a:solidFill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4797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563E-1909-BA38-FBEE-0D2C7E1F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E4A8-8FB6-0268-6902-30DF0BC5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a latent space?</a:t>
            </a:r>
          </a:p>
          <a:p>
            <a:r>
              <a:rPr lang="en-US"/>
              <a:t>How to access latent space representations of a foundation model?</a:t>
            </a:r>
          </a:p>
          <a:p>
            <a:r>
              <a:rPr lang="en-US"/>
              <a:t>How to perform dimensionality reduction on latent space representations?</a:t>
            </a:r>
          </a:p>
          <a:p>
            <a:r>
              <a:rPr lang="en-US"/>
              <a:t>How to understand the way latent representations change through the model?</a:t>
            </a:r>
          </a:p>
        </p:txBody>
      </p:sp>
    </p:spTree>
    <p:extLst>
      <p:ext uri="{BB962C8B-B14F-4D97-AF65-F5344CB8AC3E}">
        <p14:creationId xmlns:p14="http://schemas.microsoft.com/office/powerpoint/2010/main" val="415640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AE4F-CFF1-FCD2-8019-911FC84C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latent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F6B8C-3A41-B8E2-1D2E-C61E72163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“latent” == hidden information</a:t>
            </a:r>
          </a:p>
          <a:p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37A1194-6F12-2239-5FE4-009E77CA5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482" y="2431415"/>
            <a:ext cx="9415036" cy="406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45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DF73-188F-0AD7-A827-1BEAEBA8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access latent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8701-02E7-A849-C702-304B6162B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Download and prepare dataset</a:t>
            </a:r>
          </a:p>
          <a:p>
            <a:r>
              <a:rPr lang="en-US"/>
              <a:t>2. Select model with autotokenizer </a:t>
            </a:r>
          </a:p>
          <a:p>
            <a:r>
              <a:rPr lang="en-US"/>
              <a:t>3. Create encodings with autotokenizer</a:t>
            </a:r>
          </a:p>
          <a:p>
            <a:r>
              <a:rPr lang="en-US"/>
              <a:t>4. Pass encodings to the model for prediction</a:t>
            </a:r>
          </a:p>
          <a:p>
            <a:r>
              <a:rPr lang="en-US"/>
              <a:t>5. Obtain the last hidden state from the model; this is the feature vector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C172-8675-7B9B-4622-1C86F4EA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perform 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CC8C-48AB-68E3-D69F-72285FC2D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Introduce UMAP algorithm 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FCA55-D6F1-80B5-6E56-517A52B69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88663"/>
            <a:ext cx="7772400" cy="309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5F4A-E413-390C-D757-84CBAE7B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 dimensionality reduction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22821E-B201-693B-E395-6E48B448C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100" y="2445544"/>
            <a:ext cx="10083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5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CB48-3BF8-17A5-1A1D-7003D00B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 dimensionality reduction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013B55-6944-58EC-8882-3AD8732E4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4252"/>
            <a:ext cx="10515600" cy="41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3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7381-9816-3227-54AE-1CD04362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Latent Representation Through the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BC5764-E211-967E-DBAD-C8E3F41A2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963" y="2266443"/>
            <a:ext cx="6449895" cy="2646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370AE-8879-6F2D-B177-CB6A39BFC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909" y="1944615"/>
            <a:ext cx="4780096" cy="2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78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A1D8-031F-3183-0B60-9D2DBDBA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43218-EB36-545B-3D94-EF30E427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0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2A43-66E8-9870-B871-E5C0FE0E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use this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0D09-C29D-E4CC-B365-406EF66DE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/>
              <a:t>Right click </a:t>
            </a:r>
            <a:r>
              <a:rPr lang="en-US">
                <a:sym typeface="Wingdings" pitchFamily="2" charset="2"/>
              </a:rPr>
              <a:t> rulers and guides  enable smart guides, guides and gridlines</a:t>
            </a:r>
          </a:p>
          <a:p>
            <a:pPr marL="514350" indent="-514350">
              <a:buAutoNum type="arabicPeriod"/>
            </a:pPr>
            <a:r>
              <a:rPr lang="en-US">
                <a:sym typeface="Wingdings" pitchFamily="2" charset="2"/>
              </a:rPr>
              <a:t>Right click   add vertical guide and add horizontal guide (if you can’t see them already)</a:t>
            </a:r>
          </a:p>
          <a:p>
            <a:pPr marL="514350" indent="-514350">
              <a:buAutoNum type="arabicPeriod"/>
            </a:pPr>
            <a:r>
              <a:rPr lang="en-US">
                <a:sym typeface="Wingdings" pitchFamily="2" charset="2"/>
              </a:rPr>
              <a:t>Do NOT move the positions of the header text boxes. </a:t>
            </a:r>
          </a:p>
          <a:p>
            <a:pPr marL="514350" indent="-514350">
              <a:buAutoNum type="arabicPeriod"/>
            </a:pPr>
            <a:r>
              <a:rPr lang="en-US">
                <a:sym typeface="Wingdings" pitchFamily="2" charset="2"/>
              </a:rPr>
              <a:t>Font sizes: 36 for headings and 24 for main body text. Lato. </a:t>
            </a:r>
          </a:p>
          <a:p>
            <a:pPr marL="514350" indent="-514350">
              <a:buAutoNum type="arabicPeriod"/>
            </a:pPr>
            <a:r>
              <a:rPr lang="en-US" err="1">
                <a:sym typeface="Wingdings" pitchFamily="2" charset="2"/>
              </a:rPr>
              <a:t>Colour</a:t>
            </a:r>
            <a:r>
              <a:rPr lang="en-US">
                <a:sym typeface="Wingdings" pitchFamily="2" charset="2"/>
              </a:rPr>
              <a:t> scheme: </a:t>
            </a:r>
            <a:r>
              <a:rPr lang="en-US">
                <a:solidFill>
                  <a:srgbClr val="0795A2"/>
                </a:solidFill>
                <a:sym typeface="Wingdings" pitchFamily="2" charset="2"/>
              </a:rPr>
              <a:t>0795A2 , </a:t>
            </a:r>
            <a:r>
              <a:rPr lang="en-US">
                <a:solidFill>
                  <a:srgbClr val="155C7D"/>
                </a:solidFill>
                <a:sym typeface="Wingdings" pitchFamily="2" charset="2"/>
              </a:rPr>
              <a:t>155C7D, </a:t>
            </a:r>
            <a:r>
              <a:rPr lang="en-US">
                <a:solidFill>
                  <a:srgbClr val="00B3B5"/>
                </a:solidFill>
                <a:sym typeface="Wingdings" pitchFamily="2" charset="2"/>
              </a:rPr>
              <a:t>00B3B5. 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rgbClr val="00B3B5"/>
                </a:solidFill>
                <a:sym typeface="Wingdings" pitchFamily="2" charset="2"/>
              </a:rPr>
              <a:t>If 3 </a:t>
            </a:r>
            <a:r>
              <a:rPr lang="en-US" err="1">
                <a:solidFill>
                  <a:srgbClr val="00B3B5"/>
                </a:solidFill>
                <a:sym typeface="Wingdings" pitchFamily="2" charset="2"/>
              </a:rPr>
              <a:t>colours</a:t>
            </a:r>
            <a:r>
              <a:rPr lang="en-US">
                <a:solidFill>
                  <a:srgbClr val="00B3B5"/>
                </a:solidFill>
                <a:sym typeface="Wingdings" pitchFamily="2" charset="2"/>
              </a:rPr>
              <a:t> are insufficient and you need a </a:t>
            </a:r>
            <a:r>
              <a:rPr lang="en-US">
                <a:solidFill>
                  <a:srgbClr val="F26A43"/>
                </a:solidFill>
                <a:sym typeface="Wingdings" pitchFamily="2" charset="2"/>
              </a:rPr>
              <a:t>fourth</a:t>
            </a:r>
            <a:r>
              <a:rPr lang="en-US">
                <a:solidFill>
                  <a:srgbClr val="00B3B5"/>
                </a:solidFill>
                <a:sym typeface="Wingdings" pitchFamily="2" charset="2"/>
              </a:rPr>
              <a:t> contrast </a:t>
            </a:r>
            <a:r>
              <a:rPr lang="en-US" err="1">
                <a:solidFill>
                  <a:srgbClr val="00B3B5"/>
                </a:solidFill>
                <a:sym typeface="Wingdings" pitchFamily="2" charset="2"/>
              </a:rPr>
              <a:t>colour</a:t>
            </a:r>
            <a:r>
              <a:rPr lang="en-US">
                <a:solidFill>
                  <a:srgbClr val="00B3B5"/>
                </a:solidFill>
                <a:sym typeface="Wingdings" pitchFamily="2" charset="2"/>
              </a:rPr>
              <a:t> use </a:t>
            </a:r>
            <a:r>
              <a:rPr lang="en-US">
                <a:solidFill>
                  <a:srgbClr val="F26A43"/>
                </a:solidFill>
                <a:sym typeface="Wingdings" pitchFamily="2" charset="2"/>
              </a:rPr>
              <a:t>F26A43</a:t>
            </a:r>
            <a:endParaRPr lang="en-US">
              <a:solidFill>
                <a:srgbClr val="F26A4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6EE2-5F19-1446-DAAF-CFE4EEB3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3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7672-D8FE-D588-DE68-B41BDB1E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CF4D6-A5CD-19E5-DF2D-CFB53B7A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303AD-DCED-9EF0-B8A6-F5FCBAE6290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D4DCD-75AD-1EF7-29E7-4E94AFF3295C}"/>
              </a:ext>
            </a:extLst>
          </p:cNvPr>
          <p:cNvSpPr txBox="1"/>
          <p:nvPr/>
        </p:nvSpPr>
        <p:spPr>
          <a:xfrm>
            <a:off x="721217" y="1803042"/>
            <a:ext cx="3953814" cy="646331"/>
          </a:xfrm>
          <a:prstGeom prst="rect">
            <a:avLst/>
          </a:prstGeom>
          <a:solidFill>
            <a:srgbClr val="FDEBF3"/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77"/>
              </a:rPr>
              <a:t>Use text boxes, </a:t>
            </a:r>
            <a:r>
              <a:rPr lang="en-US" err="1">
                <a:latin typeface="Lato" panose="020F0502020204030203" pitchFamily="34" charset="77"/>
              </a:rPr>
              <a:t>colours</a:t>
            </a:r>
            <a:r>
              <a:rPr lang="en-US">
                <a:latin typeface="Lato" panose="020F0502020204030203" pitchFamily="34" charset="77"/>
              </a:rPr>
              <a:t> and </a:t>
            </a:r>
            <a:r>
              <a:rPr lang="en-US" b="1">
                <a:latin typeface="Lato" panose="020F0502020204030203" pitchFamily="34" charset="77"/>
              </a:rPr>
              <a:t>bold font </a:t>
            </a:r>
            <a:r>
              <a:rPr lang="en-US">
                <a:latin typeface="Lato" panose="020F0502020204030203" pitchFamily="34" charset="77"/>
              </a:rPr>
              <a:t>to highlight important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D4D47-55F3-C951-8863-8228CFD79627}"/>
              </a:ext>
            </a:extLst>
          </p:cNvPr>
          <p:cNvSpPr txBox="1"/>
          <p:nvPr/>
        </p:nvSpPr>
        <p:spPr>
          <a:xfrm>
            <a:off x="721217" y="2771815"/>
            <a:ext cx="395381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77"/>
              </a:rPr>
              <a:t>Use text boxes, </a:t>
            </a:r>
            <a:r>
              <a:rPr lang="en-US" err="1">
                <a:latin typeface="Lato" panose="020F0502020204030203" pitchFamily="34" charset="77"/>
              </a:rPr>
              <a:t>colours</a:t>
            </a:r>
            <a:r>
              <a:rPr lang="en-US">
                <a:latin typeface="Lato" panose="020F0502020204030203" pitchFamily="34" charset="77"/>
              </a:rPr>
              <a:t> and </a:t>
            </a:r>
            <a:r>
              <a:rPr lang="en-US" b="1">
                <a:latin typeface="Lato" panose="020F0502020204030203" pitchFamily="34" charset="77"/>
              </a:rPr>
              <a:t>bold font </a:t>
            </a:r>
            <a:r>
              <a:rPr lang="en-US">
                <a:latin typeface="Lato" panose="020F0502020204030203" pitchFamily="34" charset="77"/>
              </a:rPr>
              <a:t>to highlight important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8C116-A399-28A2-07F3-0FF40A90D69B}"/>
              </a:ext>
            </a:extLst>
          </p:cNvPr>
          <p:cNvSpPr txBox="1"/>
          <p:nvPr/>
        </p:nvSpPr>
        <p:spPr>
          <a:xfrm>
            <a:off x="721217" y="3763019"/>
            <a:ext cx="395381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77"/>
              </a:rPr>
              <a:t>Use text boxes, </a:t>
            </a:r>
            <a:r>
              <a:rPr lang="en-US" err="1">
                <a:latin typeface="Lato" panose="020F0502020204030203" pitchFamily="34" charset="77"/>
              </a:rPr>
              <a:t>colours</a:t>
            </a:r>
            <a:r>
              <a:rPr lang="en-US">
                <a:latin typeface="Lato" panose="020F0502020204030203" pitchFamily="34" charset="77"/>
              </a:rPr>
              <a:t> and </a:t>
            </a:r>
            <a:r>
              <a:rPr lang="en-US" b="1">
                <a:latin typeface="Lato" panose="020F0502020204030203" pitchFamily="34" charset="77"/>
              </a:rPr>
              <a:t>bold font </a:t>
            </a:r>
            <a:r>
              <a:rPr lang="en-US">
                <a:latin typeface="Lato" panose="020F0502020204030203" pitchFamily="34" charset="77"/>
              </a:rPr>
              <a:t>to highlight important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480C7-BD03-2DB2-37B1-B21F31E18AC4}"/>
              </a:ext>
            </a:extLst>
          </p:cNvPr>
          <p:cNvSpPr txBox="1"/>
          <p:nvPr/>
        </p:nvSpPr>
        <p:spPr>
          <a:xfrm>
            <a:off x="6555347" y="1880316"/>
            <a:ext cx="395381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77"/>
              </a:rPr>
              <a:t>Use Lato size 26 for headings and 18 for body text</a:t>
            </a:r>
          </a:p>
        </p:txBody>
      </p:sp>
    </p:spTree>
    <p:extLst>
      <p:ext uri="{BB962C8B-B14F-4D97-AF65-F5344CB8AC3E}">
        <p14:creationId xmlns:p14="http://schemas.microsoft.com/office/powerpoint/2010/main" val="3584451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42FB8-38FA-6D5A-EC5A-764F80E5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 descr="A logo with a leaf and text&#10;&#10;AI-generated content may be incorrect.">
            <a:extLst>
              <a:ext uri="{FF2B5EF4-FFF2-40B4-BE49-F238E27FC236}">
                <a16:creationId xmlns:a16="http://schemas.microsoft.com/office/drawing/2014/main" id="{CD470F99-8969-5778-4A7D-AD5C1EDF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43" y="632460"/>
            <a:ext cx="7815914" cy="55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267</Words>
  <Application>Microsoft Macintosh PowerPoint</Application>
  <PresentationFormat>Widescreen</PresentationFormat>
  <Paragraphs>35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Lato</vt:lpstr>
      <vt:lpstr>Wingdings</vt:lpstr>
      <vt:lpstr>Office Theme</vt:lpstr>
      <vt:lpstr>Foundation Models Workshop</vt:lpstr>
      <vt:lpstr>Learning Outcomes</vt:lpstr>
      <vt:lpstr>What is a latent space</vt:lpstr>
      <vt:lpstr>How to access latent space</vt:lpstr>
      <vt:lpstr>How to perform dimensionality reduction</vt:lpstr>
      <vt:lpstr>Optimize dimensionality reduction</vt:lpstr>
      <vt:lpstr>Optimize dimensionality reduction</vt:lpstr>
      <vt:lpstr>Latent Representation Through the Model</vt:lpstr>
      <vt:lpstr>Things to try</vt:lpstr>
      <vt:lpstr>How to use this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Ishrath Mohamed Irshadeen</dc:creator>
  <cp:lastModifiedBy>Ashley S Dale</cp:lastModifiedBy>
  <cp:revision>4</cp:revision>
  <dcterms:created xsi:type="dcterms:W3CDTF">2025-10-14T16:39:43Z</dcterms:created>
  <dcterms:modified xsi:type="dcterms:W3CDTF">2025-10-29T23:59:32Z</dcterms:modified>
</cp:coreProperties>
</file>